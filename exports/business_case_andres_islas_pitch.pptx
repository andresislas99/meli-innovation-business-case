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457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" cy="2286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E600"/>
                </a:solidFill>
                <a:latin typeface="Consolas"/>
              </a:rPr>
              <a:t>MERCADO ENVÍOS MX · INNOVACIÓN Y ROBÓTICA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Work Sample · Andrés Islas Bravo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2286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Subir la vara: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1828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600" b="1" i="0">
                <a:solidFill>
                  <a:srgbClr val="FFE600"/>
                </a:solidFill>
                <a:latin typeface="Calibri"/>
              </a:rPr>
              <a:t>criterio antes que tecnología.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5 casos · 7 widgets en vivo · catálogo SOTA · defensa frente a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7B8"/>
                </a:solidFill>
                <a:latin typeface="Calibri"/>
              </a:rPr>
              <a:t>andresislas2107@gmail.com · México · sandbox interactivo en URL pública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AGENDA · 25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Lo que vamos a recorrer juntos.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Conclusión primero (Pyramid Principle Minto). Cada caso = 1 slide. Q&amp;A al final.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Resumen ejecutivo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031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La conclusión + el porqué — 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Caso 1 · Empaquetado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060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Cómo decidir entre 5+ vendors — AHP scorecard — 3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Caso 2 · Bottleneck STP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89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Por qué 1.6M items/mes no se alcanza — 3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11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Caso 3 · Picking robótico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6118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Productividad + palanca de mayor ROI — 3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Caso 4 · Plan data-driven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114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Arquitectura + 3 queries clave — 2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17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Caso 5 · Roadmap Gantt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6177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28 sem a contrato + Real Options — 3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20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Bonus · Roadmap 18 meses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206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Visión + métricas objetivo — 2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23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onsolas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62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Defensa de gaps +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6235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5A6A"/>
                </a:solidFill>
                <a:latin typeface="Calibri"/>
              </a:rPr>
              <a:t>Lo que sí, lo que no, lo que ofrezco — 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3/12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RESUMEN EJECUTIVO · SCQA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Antes de elegir robots, pregunto si debe ser robot.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Situation → Complication → Question → Answer (Minto, McKinsey).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788920" cy="50292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6771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27889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834640"/>
            <a:ext cx="2459736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MELI escala agresivo en MX: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3.2M sq ft Cuautitlán/Tepotzotlán 2023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22 nuevos sitios logísticos 2024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Nuevo FC Hidalgo 100K m²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Cajamar Brasil ya con 334 robots STP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Acuerdo Agility 2025 (humanoides)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94560"/>
            <a:ext cx="2788920" cy="5029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26771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505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Tensión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697480"/>
            <a:ext cx="27889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834640"/>
            <a:ext cx="2459736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Cada decisión de robotización: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CAPEX alto (USD 250K-3M+)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Payback incierto sin POC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Vendor lock-in latente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Pipeline de talento limitado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Risk de escalar mal lo que funciona en piloto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194560"/>
            <a:ext cx="2788920" cy="502920"/>
          </a:xfrm>
          <a:prstGeom prst="rect">
            <a:avLst/>
          </a:prstGeom>
          <a:solidFill>
            <a:srgbClr val="348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6771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505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Pregunta clave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697480"/>
            <a:ext cx="27889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83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834640"/>
            <a:ext cx="2459736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¿Cómo evalúo cuándo, qué y dónde automatizar de forma defendible ante CEO/CFO/Ops?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 sólo: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"¿cuál robot?"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Sino: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"¿debe ser robot — y bajo qué condiciones?"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194560"/>
            <a:ext cx="2788920" cy="502920"/>
          </a:xfrm>
          <a:prstGeom prst="rect">
            <a:avLst/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26771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4505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Mi propuesta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697480"/>
            <a:ext cx="27889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2834640"/>
            <a:ext cx="2459736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 lentes integradas: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① Operativa (TOC bottleneck)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② Técnica (fit + integración)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③ Financiera (ROI + Real Options)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④ Talento (pipeline universitario)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⑤ Riesgo (vendor stability + lock-in)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Por cada caso → recomendación gateada por POC.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CASO 1 · EMPAQUETADO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Packsize gana con pesos default; Sealed Air si subes Soporte MX.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AHP scorecard 6 criterios × 5 vendors, rúbrica con anchors 0/25/50/75/100.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alibri"/>
              </a:rPr>
              <a:t>Ranking AHP — pesos default Fit 25% · Sop 20% · Tal 10% · Eco 25% · Rie 15% · Sus 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37160" cy="41148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#1 Packsize X-Series (auto-box)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697480"/>
            <a:ext cx="1097280" cy="228600"/>
          </a:xfrm>
          <a:prstGeom prst="rect">
            <a:avLst/>
          </a:prstGeom>
          <a:solidFill>
            <a:srgbClr val="EF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2697480"/>
            <a:ext cx="910742" cy="2286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37160" cy="41148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#2 Sparck CMC Pakto (auto-wrap)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200400"/>
            <a:ext cx="1097280" cy="228600"/>
          </a:xfrm>
          <a:prstGeom prst="rect">
            <a:avLst/>
          </a:prstGeom>
          <a:solidFill>
            <a:srgbClr val="EF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3200400"/>
            <a:ext cx="877824" cy="22860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1089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137160" cy="41148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118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#3 Sealed Air AutoBag 850HB (bagging)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703320"/>
            <a:ext cx="1097280" cy="228600"/>
          </a:xfrm>
          <a:prstGeom prst="rect">
            <a:avLst/>
          </a:prstGeom>
          <a:solidFill>
            <a:srgbClr val="EF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3703320"/>
            <a:ext cx="790041" cy="22860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72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137160" cy="411480"/>
          </a:xfrm>
          <a:prstGeom prst="rect">
            <a:avLst/>
          </a:prstGeom>
          <a:solidFill>
            <a:srgbClr val="348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#4 Quadient CVP Impack (auto-box)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4206240"/>
            <a:ext cx="1097280" cy="228600"/>
          </a:xfrm>
          <a:prstGeom prst="rect">
            <a:avLst/>
          </a:prstGeom>
          <a:solidFill>
            <a:srgbClr val="EF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4206240"/>
            <a:ext cx="768096" cy="228600"/>
          </a:xfrm>
          <a:prstGeom prst="rect">
            <a:avLst/>
          </a:prstGeom>
          <a:solidFill>
            <a:srgbClr val="348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1148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17720"/>
            <a:ext cx="137160" cy="411480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177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#5 Status quo manual + Smurfit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4709160"/>
            <a:ext cx="1097280" cy="228600"/>
          </a:xfrm>
          <a:prstGeom prst="rect">
            <a:avLst/>
          </a:prstGeom>
          <a:solidFill>
            <a:srgbClr val="EF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0" y="4709160"/>
            <a:ext cx="757123" cy="228600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617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194560"/>
            <a:ext cx="4023360" cy="3931920"/>
          </a:xfrm>
          <a:prstGeom prst="rect">
            <a:avLst/>
          </a:prstGeom>
          <a:solidFill>
            <a:srgbClr val="FFF7B8"/>
          </a:solidFill>
          <a:ln w="25400">
            <a:solidFill>
              <a:srgbClr val="FCD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2286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651760"/>
            <a:ext cx="3566160" cy="3566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alibri"/>
              </a:rPr>
              <a:t>Packsize lidera con pesos balanceados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porque combina presencia MX directa (case Autopartes Tracto verificable) + portafolio consolidado post-adquisición Sparck mayo 2025.</a:t>
            </a:r>
          </a:p>
          <a:p>
            <a:pPr algn="l">
              <a:spcBef>
                <a:spcPts val="1400"/>
              </a:spcBef>
            </a:pPr>
            <a:r>
              <a:rPr sz="1400" b="1" i="0">
                <a:solidFill>
                  <a:srgbClr val="2D3277"/>
                </a:solidFill>
                <a:latin typeface="Calibri"/>
              </a:rPr>
              <a:t>Si subes peso de Soporte MX a 35%+, Sealed Air rebasa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por sus 2 plantas MX (Toluca + Monterrey) y AutoBag 850HB de 700 órdenes/hr.</a:t>
            </a:r>
          </a:p>
          <a:p>
            <a:pPr algn="l">
              <a:spcBef>
                <a:spcPts val="1400"/>
              </a:spcBef>
            </a:pPr>
            <a:r>
              <a:rPr sz="1400" b="1" i="0">
                <a:solidFill>
                  <a:srgbClr val="2D3277"/>
                </a:solidFill>
                <a:latin typeface="Calibri"/>
              </a:rPr>
              <a:t>Recomendación: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RFI formal a Packsize y Sealed Air. Excluir Quadient hasta validar canal MX.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CASO 2 · SHELVES-TO-PERSON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Put Away es el cuello severo. 1.6M items/mes no se alcanza con los parámetros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Theory of Constraints (Goldratt) + Little's Law aplicados a operación con utilización 10%.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697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A6A"/>
                </a:solidFill>
                <a:latin typeface="Consolas"/>
              </a:rPr>
              <a:t>Put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63946"/>
                </a:solidFill>
                <a:latin typeface="Calibri"/>
              </a:rPr>
              <a:t>165K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items/mes efectivos</a:t>
            </a:r>
          </a:p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(10% utilización)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20440"/>
            <a:ext cx="1463040" cy="20116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2958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BOTTLENECK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194560"/>
            <a:ext cx="2697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483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2860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A6A"/>
                </a:solidFill>
                <a:latin typeface="Consolas"/>
              </a:rPr>
              <a:t>Picking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603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483FA"/>
                </a:solidFill>
                <a:latin typeface="Calibri"/>
              </a:rPr>
              <a:t>1.54M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46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items/mes efectivos</a:t>
            </a:r>
          </a:p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(90% eficiencia)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94560"/>
            <a:ext cx="2697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2860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A6A"/>
                </a:solidFill>
                <a:latin typeface="Consolas"/>
              </a:rPr>
              <a:t>Sorter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603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A650"/>
                </a:solidFill>
                <a:latin typeface="Calibri"/>
              </a:rPr>
              <a:t>1.82M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46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items/mes capacidad</a:t>
            </a:r>
          </a:p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(sin factor)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194560"/>
            <a:ext cx="2697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2860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A6A"/>
                </a:solidFill>
                <a:latin typeface="Consolas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603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D3277"/>
                </a:solidFill>
                <a:latin typeface="Calibri"/>
              </a:rPr>
              <a:t>1.6M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46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items/mes meta</a:t>
            </a:r>
          </a:p>
          <a:p>
            <a:pPr algn="l"/>
            <a:r>
              <a:rPr sz="1000" b="0" i="0">
                <a:solidFill>
                  <a:srgbClr val="5A5A6A"/>
                </a:solidFill>
                <a:latin typeface="Calibri"/>
              </a:rPr>
              <a:t>gerencia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3520440"/>
            <a:ext cx="1463040" cy="201168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52958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NO ALCANZA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77639"/>
            <a:ext cx="6858000" cy="2194560"/>
          </a:xfrm>
          <a:prstGeom prst="rect">
            <a:avLst/>
          </a:prstGeom>
          <a:solidFill>
            <a:srgbClr val="FFF7B8"/>
          </a:solidFill>
          <a:ln>
            <a:solidFill>
              <a:srgbClr val="FCD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79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PALANCAS · sin agregar puestos (ordenadas por ROI marginal)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80559"/>
            <a:ext cx="6492240" cy="1691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1. Put Away — subir utilización 10% → 97%</a:t>
            </a:r>
          </a:p>
          <a:p>
            <a:pPr algn="l">
              <a:spcBef>
                <a:spcPts val="200"/>
              </a:spcBef>
            </a:pPr>
            <a:r>
              <a:rPr sz="1000" b="0" i="1">
                <a:solidFill>
                  <a:srgbClr val="5A5A6A"/>
                </a:solidFill>
                <a:latin typeface="Calibri"/>
              </a:rPr>
              <a:t>    Root cause: ¿wave planning? ¿bursts inbound? Auditoría 2 sem.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1A1A2E"/>
                </a:solidFill>
                <a:latin typeface="Calibri"/>
              </a:rPr>
              <a:t>2. Picking — eficiencia 90% → 94%</a:t>
            </a:r>
          </a:p>
          <a:p>
            <a:pPr algn="l">
              <a:spcBef>
                <a:spcPts val="200"/>
              </a:spcBef>
            </a:pPr>
            <a:r>
              <a:rPr sz="1000" b="0" i="1">
                <a:solidFill>
                  <a:srgbClr val="5A5A6A"/>
                </a:solidFill>
                <a:latin typeface="Calibri"/>
              </a:rPr>
              <a:t>    Sólo 4 pp para cerrar gap residual. Slotting + batch picking.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1A1A2E"/>
                </a:solidFill>
                <a:latin typeface="Calibri"/>
              </a:rPr>
              <a:t>3. Subir PPF (caso 3) — sin tocar puestos</a:t>
            </a:r>
          </a:p>
          <a:p>
            <a:pPr algn="l">
              <a:spcBef>
                <a:spcPts val="200"/>
              </a:spcBef>
            </a:pPr>
            <a:r>
              <a:rPr sz="1000" b="0" i="1">
                <a:solidFill>
                  <a:srgbClr val="5A5A6A"/>
                </a:solidFill>
                <a:latin typeface="Calibri"/>
              </a:rPr>
              <a:t>    1.8 → 2.5 = +39% items/hr; cero CAPEX, sólo datos + algoritmo.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977639"/>
            <a:ext cx="4206240" cy="219456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069079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600"/>
                </a:solidFill>
                <a:latin typeface="Consolas"/>
              </a:rPr>
              <a:t>LITTLE'S LAW · L = λW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48055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WIP pick→sort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846319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E600"/>
                </a:solidFill>
                <a:latin typeface="Calibri"/>
              </a:rPr>
              <a:t>≈ 7,973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532119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items en buffer estable para SLA 3.5 hr.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2,532 items/hr × 3.5 hr × factor 0.9.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CASO 3 · PICKING ROBÓTICO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301 items/hr/estación. PPF (units/rack) es la palanca de mayor ROI marginal.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T_rack secuencial = OWP + OWS + R2R = 21.5 s. Combinando palancas: +76% sin CAPEX.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FÓRMULA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onsolas"/>
              </a:rPr>
              <a:t>T_rack = OWP + OWS + R2R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A5A6A"/>
                </a:solidFill>
                <a:latin typeface="Consolas"/>
              </a:rPr>
              <a:t>         = 7 + 6 + 8.5 = 21.5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Racks/hr = 3,600 / 21.5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D3277"/>
                </a:solidFill>
                <a:latin typeface="Calibri"/>
              </a:rPr>
              <a:t>167.4 racks/hr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Items/hr = 167.4 × 1.8 PPF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A650"/>
                </a:solidFill>
                <a:latin typeface="Calibri"/>
              </a:rPr>
              <a:t>301.4 items/hr/estación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  <a:latin typeface="Calibri"/>
              </a:rPr>
              <a:t>(Por qué secuencial: enunciado dice "una vez confirmado, robots inician movimiento".)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194560"/>
            <a:ext cx="6035040" cy="438912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331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600"/>
                </a:solidFill>
                <a:latin typeface="Consolas"/>
              </a:rPr>
              <a:t>SENSIBILIDAD POR PALANCA · Δ vs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788920"/>
            <a:ext cx="5669280" cy="64008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84378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PPF 1.8 → 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43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E600"/>
                </a:solidFill>
                <a:latin typeface="Consolas"/>
              </a:rPr>
              <a:t>+39%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43784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418 items/hr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4378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Slotting algoritmo — CERO CAPEX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502152"/>
            <a:ext cx="5669280" cy="64008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557016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R2R 8.5 → 6.0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55701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E600"/>
                </a:solidFill>
                <a:latin typeface="Consolas"/>
              </a:rPr>
              <a:t>+13%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557016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340 items/hr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55701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Más robots, paths optimizados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215384"/>
            <a:ext cx="5669280" cy="64008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4270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OWP 7 → 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270248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E600"/>
                </a:solidFill>
                <a:latin typeface="Consolas"/>
              </a:rPr>
              <a:t>+10%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27024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332 items/hr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27024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Light-directed picking, mejor 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928616"/>
            <a:ext cx="5669280" cy="64008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9834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OWS 6 → 4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9834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E600"/>
                </a:solidFill>
                <a:latin typeface="Consolas"/>
              </a:rPr>
              <a:t>+10%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9834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332 items/hr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983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Ergonomía + ubicación de totes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641848"/>
            <a:ext cx="5669280" cy="64008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569671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562"/>
                </a:solidFill>
                <a:latin typeface="Calibri"/>
              </a:rPr>
              <a:t>Combinado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69671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562"/>
                </a:solidFill>
                <a:latin typeface="Consolas"/>
              </a:rPr>
              <a:t>+76%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696712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562"/>
                </a:solidFill>
                <a:latin typeface="Consolas"/>
              </a:rPr>
              <a:t>530 items/hr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6967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1F2562"/>
                </a:solidFill>
                <a:latin typeface="Calibri"/>
              </a:rPr>
              <a:t>Slotting + R2R + OWP simultáneo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7/12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CASO 4 · PLAN DATA-DRIVEN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Stack asumido + 3 queries SQL + dashboard con insight accionable.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Más allá del dashboard pasivo: cada vista termina en una recomendación concreta.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029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ARQUITECTURA · stack asumido (S001)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WMS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346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custom MELI / SAP EWM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A"/>
                </a:solidFill>
                <a:latin typeface="Consolas"/>
              </a:rPr>
              <a:t>↓ Kafka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46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streaming en tiempo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Data 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657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S3 / GCS + Glue / Athena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A"/>
                </a:solidFill>
                <a:latin typeface="Consolas"/>
              </a:rPr>
              <a:t>↓ ETL incremental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0690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transformación schema-on-read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Data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80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Redshift / Snowflake / BigQuery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A"/>
                </a:solidFill>
                <a:latin typeface="Consolas"/>
              </a:rPr>
              <a:t>↓ semantic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920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agregaciones reutilizables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3277"/>
                </a:solidFill>
                <a:latin typeface="Consolas"/>
              </a:rPr>
              <a:t>BI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A6A"/>
                </a:solidFill>
                <a:latin typeface="Calibri"/>
              </a:rPr>
              <a:t>Looker / Tableau / Streamlit ad-hoc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194560"/>
            <a:ext cx="6035040" cy="393192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331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600"/>
                </a:solidFill>
                <a:latin typeface="Consolas"/>
              </a:rPr>
              <a:t>3 QUERIES + INSIGHT ACCIONABLE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① Curvas semanales entrada/salida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063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600"/>
                </a:solidFill>
                <a:latin typeface="Consolas"/>
              </a:rPr>
              <a:t>GROUP BY fc, week, event_type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474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② Curva intradiaria + peaks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794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600"/>
                </a:solidFill>
                <a:latin typeface="Consolas"/>
              </a:rPr>
              <a:t>EXTRACT hour + PERCENTILE_CONT(0.95)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06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③ Mix SKU + dim-weight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600"/>
                </a:solidFill>
                <a:latin typeface="Consolas"/>
              </a:rPr>
              <a:t>JOIN sku_master + WIDTH_BUCKET dim_weight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029200"/>
            <a:ext cx="5669280" cy="10058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51023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562"/>
                </a:solidFill>
                <a:latin typeface="Consolas"/>
              </a:rPr>
              <a:t>INSIGHT SLIDE PARA EL LÍDER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9496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F2562"/>
                </a:solidFill>
                <a:latin typeface="Calibri"/>
              </a:rPr>
              <a:t>"FC-X: utilización 60% pero throughput plano vs FC-Y.</a:t>
            </a:r>
          </a:p>
          <a:p>
            <a:pPr algn="l"/>
            <a:r>
              <a:rPr sz="1100" b="0" i="1">
                <a:solidFill>
                  <a:srgbClr val="1F2562"/>
                </a:solidFill>
                <a:latin typeface="Calibri"/>
              </a:rPr>
              <a:t>Hipótesis: bottleneck en sortation post-pick.</a:t>
            </a:r>
          </a:p>
          <a:p>
            <a:pPr algn="l"/>
            <a:r>
              <a:rPr sz="1100" b="0" i="1">
                <a:solidFill>
                  <a:srgbClr val="1F2562"/>
                </a:solidFill>
                <a:latin typeface="Calibri"/>
              </a:rPr>
              <a:t>Recomendación: profundizar antes de expandir Y a más FCs."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CASO 5 · ROADMAP FEASIBILITY-A-LICITACIÓN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28 sem a contrato firmado · 46 sem a steady state · gate Fase 7 = Real 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CPM + PERT Beta-PERT (Vose 2008) + Real Options binomial (Cox-Ross-Rubinstein 1979).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1247120" cy="36576"/>
          </a:xfrm>
          <a:prstGeom prst="rect">
            <a:avLst/>
          </a:prstGeom>
          <a:solidFill>
            <a:srgbClr val="D8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5000" cy="73152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965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A5A6A"/>
                </a:solidFill>
                <a:latin typeface="Consolas"/>
              </a:rPr>
              <a:t>sem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2286000"/>
            <a:ext cx="15000" cy="73152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1965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A5A6A"/>
                </a:solidFill>
                <a:latin typeface="Consolas"/>
              </a:rPr>
              <a:t>sem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2286000"/>
            <a:ext cx="15000" cy="73152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965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A5A6A"/>
                </a:solidFill>
                <a:latin typeface="Consolas"/>
              </a:rPr>
              <a:t>sem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2286000"/>
            <a:ext cx="15000" cy="73152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1965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A5A6A"/>
                </a:solidFill>
                <a:latin typeface="Consolas"/>
              </a:rPr>
              <a:t>sem 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54896" y="2286000"/>
            <a:ext cx="15000" cy="73152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965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A5A6A"/>
                </a:solidFill>
                <a:latin typeface="Consolas"/>
              </a:rPr>
              <a:t>sem 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0" y="2286000"/>
            <a:ext cx="15000" cy="73152"/>
          </a:xfrm>
          <a:prstGeom prst="rect">
            <a:avLst/>
          </a:prstGeom>
          <a:solidFill>
            <a:srgbClr val="5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0" y="1965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A5A6A"/>
                </a:solidFill>
                <a:latin typeface="Consolas"/>
              </a:rPr>
              <a:t>sem 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0320"/>
            <a:ext cx="2024481" cy="32004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560320"/>
            <a:ext cx="193304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Discovery + RFI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1681" y="2560320"/>
            <a:ext cx="1349654" cy="320040"/>
          </a:xfrm>
          <a:prstGeom prst="rect">
            <a:avLst/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7401" y="2560320"/>
            <a:ext cx="125821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31336" y="2560320"/>
            <a:ext cx="1124712" cy="3200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77056" y="2560320"/>
            <a:ext cx="10332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Business case +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2560320"/>
            <a:ext cx="1799539" cy="32004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01768" y="2560320"/>
            <a:ext cx="170809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RFP + licitación + contrato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5587" y="2560320"/>
            <a:ext cx="2699308" cy="3200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1307" y="2560320"/>
            <a:ext cx="26078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Fabricación (dado)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55587" y="2560320"/>
            <a:ext cx="899769" cy="32004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1307" y="2560320"/>
            <a:ext cx="8083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Site prep 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560320"/>
            <a:ext cx="899769" cy="32004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0616" y="2560320"/>
            <a:ext cx="8083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Install + commissioning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54665" y="2560320"/>
            <a:ext cx="1349654" cy="320040"/>
          </a:xfrm>
          <a:prstGeom prst="rect">
            <a:avLst/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0385" y="2560320"/>
            <a:ext cx="125821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Ramp-up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1220" y="1920240"/>
            <a:ext cx="27432" cy="21031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266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← Gate Fase 7 (Real Options)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72000"/>
            <a:ext cx="36576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D3277"/>
                </a:solidFill>
                <a:latin typeface="Calibri"/>
              </a:rPr>
              <a:t>28 SEMANAS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6A"/>
                </a:solidFill>
                <a:latin typeface="Calibri"/>
              </a:rPr>
              <a:t>a contrato firmado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Pre-fabricación = 28 sem (~7 meses).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Incluye discovery + POC + business case + licitación + negociación.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4572000"/>
            <a:ext cx="36576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A650"/>
                </a:solidFill>
                <a:latin typeface="Calibri"/>
              </a:rPr>
              <a:t>46 SEMANAS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6A"/>
                </a:solidFill>
                <a:latin typeface="Calibri"/>
              </a:rPr>
              <a:t>a steady 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349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Total = 46 sem (~11 meses).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Incluye fabricación 12 sem + ramp-up 6 sem.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Sitio en paralelo a fab ahorra 4 sem.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4572000"/>
            <a:ext cx="36576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REAL OPTIONS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6A"/>
                </a:solidFill>
                <a:latin typeface="Calibri"/>
              </a:rPr>
              <a:t>gate Fase 7 = put option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349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Si POC falla, no se ejerce CAPEX de fab.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Valor de la flexibilidad ≠ NPV "punto".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Widget en deck web cuantifica.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9/12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BONUS · ROADMAP 18 MESES MELI MX INNOVACIÓN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Cómo abordaría la innovación operativa si tengo el 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Lectura opcional — visión personal aplicada, no parte del brief.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788920" cy="45720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MES 0-3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88920"/>
            <a:ext cx="24597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3 CEDIS principales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Bottleneck map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Score fit por tech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Gate: priorizar 2-3 iniciativas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60520"/>
            <a:ext cx="2459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2D3277"/>
                </a:solidFill>
                <a:latin typeface="Calibri"/>
              </a:rPr>
              <a:t>Comité prioriza iniciativas para POC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194560"/>
            <a:ext cx="2788920" cy="457200"/>
          </a:xfrm>
          <a:prstGeom prst="rect">
            <a:avLst/>
          </a:prstGeom>
          <a:solidFill>
            <a:srgbClr val="00A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028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MES 3-6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957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Pilotos rápidos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651760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2788920"/>
            <a:ext cx="24597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Auto-box packaging en 1 FC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Algoritmo slotting (cero CAPEX)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POC 6 sem c/u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Gate: ROI validado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160520"/>
            <a:ext cx="2459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A650"/>
                </a:solidFill>
                <a:latin typeface="Calibri"/>
              </a:rPr>
              <a:t>Real Options aplicado en cada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194560"/>
            <a:ext cx="2788920" cy="45720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4028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MES 6-12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957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Rollout + nuevas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51760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CD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788920"/>
            <a:ext cx="24597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Escalado del piloto exitoso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POC STP/AMR en FC maduro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Sorter upgrade si aplica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Visita técnica GEODIS-Locus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160520"/>
            <a:ext cx="2459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CD400"/>
                </a:solidFill>
                <a:latin typeface="Calibri"/>
              </a:rPr>
              <a:t>Cuautitlán como benchmark local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194560"/>
            <a:ext cx="2788920" cy="457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24028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MES 12-18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957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Arquitectura + talento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651760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2788920"/>
            <a:ext cx="24597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Unified WMS ↔ robots (ISA-95 + OPC UA)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Predictive maintenance fleet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Programa universitario 3-4 univ.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Lab sponsored conjunto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4160520"/>
            <a:ext cx="2459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E63946"/>
                </a:solidFill>
                <a:latin typeface="Calibri"/>
              </a:rPr>
              <a:t>Pipeline talento sostenible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2788920" cy="12801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9377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A650"/>
                </a:solidFill>
                <a:latin typeface="Calibri"/>
              </a:rPr>
              <a:t>↓ 12–18%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4406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cost-per-unit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715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F7B8"/>
                </a:solidFill>
                <a:latin typeface="Calibri"/>
              </a:rPr>
              <a:t>auto-box + slotting + STP combinados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846320"/>
            <a:ext cx="2788920" cy="12801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49377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A650"/>
                </a:solidFill>
                <a:latin typeface="Calibri"/>
              </a:rPr>
              <a:t>↑ 35–50%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4406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picks/hr/estación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715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F7B8"/>
                </a:solidFill>
                <a:latin typeface="Calibri"/>
              </a:rPr>
              <a:t>slotting (~30%) + STP (~20% adic.)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846320"/>
            <a:ext cx="2788920" cy="12801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A650"/>
                </a:solidFill>
                <a:latin typeface="Calibri"/>
              </a:rPr>
              <a:t>92% → 97%+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4406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uptime fleet target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715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F7B8"/>
                </a:solidFill>
                <a:latin typeface="Calibri"/>
              </a:rPr>
              <a:t>predictive maintenance + refacciones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4846320"/>
            <a:ext cx="2788920" cy="12801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49377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D3277"/>
                </a:solidFill>
                <a:latin typeface="Calibri"/>
              </a:rPr>
              <a:t>18–24 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4406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payback agregado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715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F7B8"/>
                </a:solidFill>
                <a:latin typeface="Calibri"/>
              </a:rPr>
              <a:t>AMR &lt;24mo + packaging 1-2yr (Mordor)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DEFENSA DE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Lo que NO tengo · cómo lo cubro · qué ofrezco a cambio.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Declarar los gaps abre puerta a discusión honesta. Inflar los cierra.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37160" cy="132588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194560"/>
            <a:ext cx="11155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3277"/>
                </a:solidFill>
                <a:latin typeface="Calibri"/>
              </a:rPr>
              <a:t>Fleet máx 4 vehículos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6A"/>
                </a:solidFill>
                <a:latin typeface="Calibri"/>
              </a:rPr>
              <a:t>MELI maneja 10–100× esa escala.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Adyacencia: criterio de escalado progresivo (asesoría cliente CEDIS-regulado) + arquitectura OPC UA → WMS → tareas robot. Lo que necesito aprender: dimensionamiento fleet software a escala (MAPF), social dynamics de 100+ operadores.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37160" cy="132588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657600"/>
            <a:ext cx="11155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3277"/>
                </a:solidFill>
                <a:latin typeface="Calibri"/>
              </a:rPr>
              <a:t>Primer rol e-commerce directo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6A"/>
                </a:solidFill>
                <a:latin typeface="Calibri"/>
              </a:rPr>
              <a:t>Mis 7 años son en planta industrial pesada con JIT.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Adyacencia: dinámicas TOC, OEE, mantenibilidad, wave-planning son las mismas. Lo que necesito aprender: SKU mix B2C high-variety, cadencia Buen Fin, last-mile.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37160" cy="1325880"/>
          </a:xfrm>
          <a:prstGeom prst="rect">
            <a:avLst/>
          </a:prstGeom>
          <a:solidFill>
            <a:srgbClr val="F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120640"/>
            <a:ext cx="11155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3277"/>
                </a:solidFill>
                <a:latin typeface="Calibri"/>
              </a:rPr>
              <a:t>Portugués no fluido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A6A"/>
                </a:solidFill>
                <a:latin typeface="Calibri"/>
              </a:rPr>
              <a:t>Mi inglés es C1, mi español nativo, portugués técnico ~70% inteligible pero no produzco fluido.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Plan: ES + EN cubren 95% de situaciones con Brasil. Si el rol requiere PT activo, lo aprendo (~3 meses con clases + uso diario).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457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E600"/>
                </a:solidFill>
                <a:latin typeface="Consolas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Gracias.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E600"/>
                </a:solidFill>
                <a:latin typeface="Calibri"/>
              </a:rPr>
              <a:t>Lo importante de este case no fue "qué robot".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Fue cuándo + por qué + cómo defenderlo. Esa es la conversación que quiero abrir con ustedes.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10972800" cy="1554480"/>
          </a:xfrm>
          <a:prstGeom prst="rect">
            <a:avLst/>
          </a:prstGeom>
          <a:solidFill>
            <a:srgbClr val="1F2562"/>
          </a:solidFill>
          <a:ln w="254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77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E600"/>
                </a:solidFill>
                <a:latin typeface="Consolas"/>
              </a:rPr>
              <a:t>EXPLOREN EL SANDBOX INTERACTIVO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https://andresislas99.github.io/meli-innovation-business-case/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 slides · 7 widgets Python en vivo · rúbrica AHP con evidencia por vendor · simulador DES · Real Options binomial · Sobol indices · roadmap 18 meses · guía de estudio + cheatsheet · catálogo SOTA con papers canónicos.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E600"/>
                </a:solidFill>
                <a:latin typeface="Calibri"/>
              </a:rPr>
              <a:t>Andrés Islas Bravo · andresislas2107@gmail.com · México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Andrés Islas Bravo · Innovación y Robótica · Mercado Envíos 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E600"/>
                </a:solidFill>
                <a:latin typeface="Consolas"/>
              </a:rPr>
              <a:t>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D400"/>
                </a:solidFill>
                <a:latin typeface="Consolas"/>
              </a:rPr>
              <a:t>GLOSARIO · SIGLAS QUE PUEDEN APARECER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3277"/>
                </a:solidFill>
                <a:latin typeface="Calibri"/>
              </a:rPr>
              <a:t>Para referencia rápida durante Q&amp;A — glosario extendido en exports/glosario.pdf.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Calibri"/>
              </a:rPr>
              <a:t>Cada sigla con significado pleno + dónde aparece en este deck.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35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TOC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94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Theory of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AHP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Analytic Hierarchy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68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OEE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Overall Equipment Effectiveness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CPM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Critical Path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PERT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Program Evaluation/Review 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291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WIP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566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Work-in-Process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840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Capital Expenditure (inversión)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Todos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OPEX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114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Operating Expenditure (recurrente)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Todos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89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NPV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89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Net Present Value (valor presente)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389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63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663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Return on Investment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663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Todos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37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TCO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937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Total Cost of Ownership 5y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937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RFI / RFP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212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Request for Info/Proposal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5212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1,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SLA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Service Level Agreement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486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760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MTTR / MTBF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5760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Mean Time To Repair / Between Failures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760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35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WMS / ERP / 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6035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Warehouse / Enterprise / Manuf. Execution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6035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1,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FC / CEDIS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2194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Fulfillment Center / Centro Distribución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5640" y="2194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Todos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STP / AMR / AGV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Shelves-to-Person / Autonomous Mobile / Auto-Guided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2468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2,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OWP / OWS / R2R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Operator Walk Pick / Stow + Rack-to-Rack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564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PPF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Pieces Per Fetch (items por rack)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3564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DIM weight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Peso volumétrico (UPS/FedEx)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35640" y="3291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3566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MAPF / PIBT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43800" y="3566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Multi-Agent Path Finding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35640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SOTA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220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CP-SAT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3800" y="3840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Constraint Programming SAT (OR-Tools)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3564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SOTA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DES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3800" y="4114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Discrete Event Simulation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3564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2 SOTA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389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MDP / RL / MARL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43800" y="4389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Markov / Reinforcement / Multi-Agent RL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35640" y="4389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SOTA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2200" y="4663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OPC 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43800" y="4663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Industrial protocol (machine-to-WMS)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35640" y="4663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1, 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0" y="4937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ISA-95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43800" y="4937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Enterprise-control integration standard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35640" y="4937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1, 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72200" y="5212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RCM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43800" y="5212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Reliability-Centered Maintenance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35640" y="5212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72200" y="5486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ABC / XYZ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4380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Pareto vol/value + variability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35640" y="5486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5760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S₁ / S_T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43800" y="5760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Sobol indices first/total order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35640" y="5760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5 SOTA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72200" y="6035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3277"/>
                </a:solidFill>
                <a:latin typeface="Consolas"/>
              </a:rPr>
              <a:t>u / d / 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43800" y="6035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Up/down/prob en binomial tree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35640" y="6035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A5A6A"/>
                </a:solidFill>
                <a:latin typeface="Calibri"/>
              </a:rPr>
              <a:t>Caso 5 SOTA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